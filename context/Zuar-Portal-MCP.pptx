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32AF024-60B8-4F33-8AA7-3A1E92C4F57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280DA3-BD7D-4D85-A4F3-F28570D3B1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ED9D62-C861-4B53-B741-D8729242032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73EAED-9927-4F48-AA1F-3BF5EA07B8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65693D-E74C-4EBD-AE7E-89137440A0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6DC68D-C8D3-42A5-8454-3117E00DA5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438675-9654-4F6D-B3B1-2A52ED3533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7939A7-D7D7-4AD4-B406-E778269217D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8CFE1D-4A35-4F10-B58D-0BCB615F36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title text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784080" y="-1554480"/>
            <a:ext cx="4388760" cy="4388760"/>
          </a:xfrm>
          <a:prstGeom prst="ellipse">
            <a:avLst/>
          </a:prstGeom>
          <a:solidFill>
            <a:srgbClr val="fa2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1155680" y="1600200"/>
            <a:ext cx="1554120" cy="1554120"/>
          </a:xfrm>
          <a:prstGeom prst="ellipse">
            <a:avLst/>
          </a:prstGeom>
          <a:solidFill>
            <a:srgbClr val="ff7c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777240" y="14173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299" strike="noStrike">
                <a:solidFill>
                  <a:srgbClr val="ff7c2c"/>
                </a:solidFill>
                <a:latin typeface="Arial"/>
                <a:ea typeface="Arial"/>
              </a:rPr>
              <a:t>ZUAR PORTAL  ·  AI TOOLING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77240" y="1874520"/>
            <a:ext cx="87778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ffffff"/>
                </a:solidFill>
                <a:latin typeface="Georgia"/>
                <a:ea typeface="Georgia"/>
              </a:rPr>
              <a:t>Building the Portal with AI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77240" y="3429000"/>
            <a:ext cx="8595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d9d2e0"/>
                </a:solidFill>
                <a:latin typeface="Arial"/>
                <a:ea typeface="Arial"/>
              </a:rPr>
              <a:t>A portable MCP server that lets any LLM build and manage Zuar Portal — its own agent, skills, its own automation.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822960" y="5074920"/>
            <a:ext cx="6035040" cy="360"/>
          </a:xfrm>
          <a:prstGeom prst="line">
            <a:avLst/>
          </a:prstGeom>
          <a:ln w="12700">
            <a:solidFill>
              <a:srgbClr val="3a31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777240" y="52578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v2.3.0</a:t>
            </a:r>
            <a:r>
              <a:rPr b="0" lang="en-US" sz="1400" spc="-1" strike="noStrike">
                <a:solidFill>
                  <a:srgbClr val="d9d2e0"/>
                </a:solidFill>
                <a:latin typeface="Arial"/>
                <a:ea typeface="Arial"/>
              </a:rPr>
              <a:t>      Built in 3 days      32 tools      Patrick Fox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640080" y="45720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ff7c2c"/>
                </a:solidFill>
                <a:latin typeface="Arial"/>
                <a:ea typeface="Arial"/>
              </a:rPr>
              <a:t>THE IDEA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640080" y="76824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320"/>
                </a:solidFill>
                <a:latin typeface="Georgia"/>
                <a:ea typeface="Georgia"/>
              </a:rPr>
              <a:t>Plug the Portal into the AI — not the AI into the Portal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640080" y="162756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c2433"/>
                </a:solidFill>
                <a:latin typeface="Arial"/>
                <a:ea typeface="Arial"/>
              </a:rPr>
              <a:t>An MCP server exposes Zuar Portal's full API as tools any AI agent can call. The AI brings its own skills, agents, and automation; the Portal simply becomes something it can build.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640080" y="2514600"/>
            <a:ext cx="5211720" cy="3245760"/>
          </a:xfrm>
          <a:prstGeom prst="roundRect">
            <a:avLst>
              <a:gd name="adj" fmla="val 2817"/>
            </a:avLst>
          </a:prstGeom>
          <a:solidFill>
            <a:srgbClr val="f6f5f8"/>
          </a:solidFill>
          <a:ln w="12700">
            <a:solidFill>
              <a:srgbClr val="e7e3ec"/>
            </a:solidFill>
            <a:round/>
          </a:ln>
          <a:effectLst>
            <a:outerShdw algn="bl" blurRad="114480" dir="5400000" dist="38160" kx="0" ky="0" rotWithShape="0" sx="100000" sy="100000">
              <a:srgbClr val="1a132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>
            <a:off x="914400" y="2788920"/>
            <a:ext cx="255600" cy="255600"/>
          </a:xfrm>
          <a:prstGeom prst="ellipse">
            <a:avLst/>
          </a:prstGeom>
          <a:solidFill>
            <a:srgbClr val="8a83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1298520" y="2743200"/>
            <a:ext cx="4388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a1320"/>
                </a:solidFill>
                <a:latin typeface="Arial"/>
                <a:ea typeface="Arial"/>
              </a:rPr>
              <a:t>An assistant in the Portal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914400" y="3200400"/>
            <a:ext cx="46630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c2433"/>
                </a:solidFill>
                <a:latin typeface="Arial"/>
                <a:ea typeface="Arial"/>
              </a:rPr>
              <a:t>Lives inside the page-builder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c2433"/>
                </a:solidFill>
                <a:latin typeface="Arial"/>
                <a:ea typeface="Arial"/>
              </a:rPr>
              <a:t>Great for quick, in-context edits with a review-and-save flow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c2433"/>
                </a:solidFill>
                <a:latin typeface="Arial"/>
                <a:ea typeface="Arial"/>
              </a:rPr>
              <a:t>Scoped to one page, one chat, one model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6309360" y="2514600"/>
            <a:ext cx="5211720" cy="3245760"/>
          </a:xfrm>
          <a:prstGeom prst="roundRect">
            <a:avLst>
              <a:gd name="adj" fmla="val 2817"/>
            </a:avLst>
          </a:prstGeom>
          <a:solidFill>
            <a:srgbClr val="fff0f4"/>
          </a:solidFill>
          <a:ln w="12700">
            <a:solidFill>
              <a:srgbClr val="e7e3ec"/>
            </a:solidFill>
            <a:round/>
          </a:ln>
          <a:effectLst>
            <a:outerShdw algn="bl" blurRad="114480" dir="5400000" dist="38160" kx="0" ky="0" rotWithShape="0" sx="100000" sy="100000">
              <a:srgbClr val="1a132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6583680" y="2788920"/>
            <a:ext cx="255600" cy="255600"/>
          </a:xfrm>
          <a:prstGeom prst="ellipse">
            <a:avLst/>
          </a:prstGeom>
          <a:solidFill>
            <a:srgbClr val="fa2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6967800" y="274320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fa225b"/>
                </a:solidFill>
                <a:latin typeface="Arial"/>
                <a:ea typeface="Arial"/>
              </a:rPr>
              <a:t>In your AI — this MCP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6583680" y="3200400"/>
            <a:ext cx="46630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c2433"/>
                </a:solidFill>
                <a:latin typeface="Arial"/>
                <a:ea typeface="Arial"/>
              </a:rPr>
              <a:t>The Portal plugs into Claude Code, Claude Desktop, or ChatGPT, Abacus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c2433"/>
                </a:solidFill>
                <a:latin typeface="Arial"/>
                <a:ea typeface="Arial"/>
              </a:rPr>
              <a:t>Full Claude skills, multiple agents, and automation loops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c2433"/>
                </a:solidFill>
                <a:latin typeface="Arial"/>
                <a:ea typeface="Arial"/>
              </a:rPr>
              <a:t>Inherits every new AI capability — no need to rebuild it ourselves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c2433"/>
                </a:solidFill>
                <a:latin typeface="Arial"/>
                <a:ea typeface="Arial"/>
              </a:rPr>
              <a:t>Git version control over every change over every block/page/and the entire portal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c2433"/>
                </a:solidFill>
                <a:latin typeface="Arial"/>
                <a:ea typeface="Arial"/>
              </a:rPr>
              <a:t>Ability to create custom agents based on your workflow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c2433"/>
                </a:solidFill>
                <a:latin typeface="Arial"/>
                <a:ea typeface="Arial"/>
              </a:rPr>
              <a:t>Pulls from a design.md file you populate so content is always on brand and unified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640080" y="6437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8392"/>
                </a:solidFill>
                <a:latin typeface="Arial"/>
                <a:ea typeface="Arial"/>
              </a:rPr>
              <a:t>Zuar Portal MCP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1133856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8392"/>
                </a:solidFill>
                <a:latin typeface="Arial"/>
                <a:ea typeface="Arial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640080" y="45720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ff7c2c"/>
                </a:solidFill>
                <a:latin typeface="Arial"/>
                <a:ea typeface="Arial"/>
              </a:rPr>
              <a:t>HOW IT WORKS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640080" y="76824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320"/>
                </a:solidFill>
                <a:latin typeface="Georgia"/>
                <a:ea typeface="Georgia"/>
              </a:rPr>
              <a:t>One server between your AI and the Portal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640080" y="2331720"/>
            <a:ext cx="3200040" cy="1691280"/>
          </a:xfrm>
          <a:prstGeom prst="roundRect">
            <a:avLst>
              <a:gd name="adj" fmla="val 5405"/>
            </a:avLst>
          </a:prstGeom>
          <a:solidFill>
            <a:srgbClr val="f6f5f8"/>
          </a:solidFill>
          <a:ln w="12700">
            <a:solidFill>
              <a:srgbClr val="e7e3ec"/>
            </a:solidFill>
            <a:round/>
          </a:ln>
          <a:effectLst>
            <a:outerShdw algn="bl" blurRad="114480" dir="5400000" dist="38160" kx="0" ky="0" rotWithShape="0" sx="100000" sy="100000">
              <a:srgbClr val="1a132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868680" y="27158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a1320"/>
                </a:solidFill>
                <a:latin typeface="Arial"/>
                <a:ea typeface="Arial"/>
              </a:rPr>
              <a:t>Any AI agent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868680" y="32004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2433"/>
                </a:solidFill>
                <a:latin typeface="Arial"/>
                <a:ea typeface="Arial"/>
              </a:rPr>
              <a:t>Claude Code · Claude Desktop · ChatGPT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5"/>
          <p:cNvSpPr/>
          <p:nvPr/>
        </p:nvSpPr>
        <p:spPr>
          <a:xfrm>
            <a:off x="4498920" y="2331720"/>
            <a:ext cx="3200040" cy="1691280"/>
          </a:xfrm>
          <a:prstGeom prst="roundRect">
            <a:avLst>
              <a:gd name="adj" fmla="val 5405"/>
            </a:avLst>
          </a:prstGeom>
          <a:solidFill>
            <a:srgbClr val="fff0f4"/>
          </a:solidFill>
          <a:ln w="22225">
            <a:solidFill>
              <a:srgbClr val="fa225b"/>
            </a:solidFill>
            <a:round/>
          </a:ln>
          <a:effectLst>
            <a:outerShdw algn="bl" blurRad="114480" dir="5400000" dist="38160" kx="0" ky="0" rotWithShape="0" sx="100000" sy="100000">
              <a:srgbClr val="1a132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4727520" y="27158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fa225b"/>
                </a:solidFill>
                <a:latin typeface="Arial"/>
                <a:ea typeface="Arial"/>
              </a:rPr>
              <a:t>MCP server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4727520" y="32004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2433"/>
                </a:solidFill>
                <a:latin typeface="Arial"/>
                <a:ea typeface="Arial"/>
              </a:rPr>
              <a:t>32 validated tools · write-safety · git versioning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8"/>
          <p:cNvSpPr/>
          <p:nvPr/>
        </p:nvSpPr>
        <p:spPr>
          <a:xfrm>
            <a:off x="8357760" y="2331720"/>
            <a:ext cx="3200040" cy="1691280"/>
          </a:xfrm>
          <a:prstGeom prst="roundRect">
            <a:avLst>
              <a:gd name="adj" fmla="val 5405"/>
            </a:avLst>
          </a:prstGeom>
          <a:solidFill>
            <a:srgbClr val="f6f5f8"/>
          </a:solidFill>
          <a:ln w="12700">
            <a:solidFill>
              <a:srgbClr val="e7e3ec"/>
            </a:solidFill>
            <a:round/>
          </a:ln>
          <a:effectLst>
            <a:outerShdw algn="bl" blurRad="114480" dir="5400000" dist="38160" kx="0" ky="0" rotWithShape="0" sx="100000" sy="100000">
              <a:srgbClr val="1a132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9"/>
          <p:cNvSpPr/>
          <p:nvPr/>
        </p:nvSpPr>
        <p:spPr>
          <a:xfrm>
            <a:off x="8586360" y="27158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a1320"/>
                </a:solidFill>
                <a:latin typeface="Arial"/>
                <a:ea typeface="Arial"/>
              </a:rPr>
              <a:t>Zuar Portal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8586360" y="32004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2433"/>
                </a:solidFill>
                <a:latin typeface="Arial"/>
                <a:ea typeface="Arial"/>
              </a:rPr>
              <a:t>REST API (/api) + Auth service (/auth)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3822120" y="2743200"/>
            <a:ext cx="685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7c2c"/>
                </a:solidFill>
                <a:latin typeface="Arial"/>
                <a:ea typeface="Arial"/>
              </a:rPr>
              <a:t>›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7680960" y="2743200"/>
            <a:ext cx="685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7c2c"/>
                </a:solidFill>
                <a:latin typeface="Arial"/>
                <a:ea typeface="Arial"/>
              </a:rPr>
              <a:t>›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3"/>
          <p:cNvSpPr/>
          <p:nvPr/>
        </p:nvSpPr>
        <p:spPr>
          <a:xfrm>
            <a:off x="640080" y="4526280"/>
            <a:ext cx="2605680" cy="1142640"/>
          </a:xfrm>
          <a:prstGeom prst="roundRect">
            <a:avLst>
              <a:gd name="adj" fmla="val 6400"/>
            </a:avLst>
          </a:prstGeom>
          <a:solidFill>
            <a:srgbClr val="f6f5f8"/>
          </a:solidFill>
          <a:ln w="12700">
            <a:solidFill>
              <a:srgbClr val="e7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4"/>
          <p:cNvSpPr/>
          <p:nvPr/>
        </p:nvSpPr>
        <p:spPr>
          <a:xfrm>
            <a:off x="841320" y="4727520"/>
            <a:ext cx="145800" cy="145800"/>
          </a:xfrm>
          <a:prstGeom prst="ellipse">
            <a:avLst/>
          </a:prstGeom>
          <a:solidFill>
            <a:srgbClr val="ff7c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841320" y="4910400"/>
            <a:ext cx="2203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2433"/>
                </a:solidFill>
                <a:latin typeface="Arial"/>
                <a:ea typeface="Arial"/>
              </a:rPr>
              <a:t>Logs in with your API key, auto-refreshes the session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6"/>
          <p:cNvSpPr/>
          <p:nvPr/>
        </p:nvSpPr>
        <p:spPr>
          <a:xfrm>
            <a:off x="3410640" y="4526280"/>
            <a:ext cx="2605680" cy="1142640"/>
          </a:xfrm>
          <a:prstGeom prst="roundRect">
            <a:avLst>
              <a:gd name="adj" fmla="val 6400"/>
            </a:avLst>
          </a:prstGeom>
          <a:solidFill>
            <a:srgbClr val="f6f5f8"/>
          </a:solidFill>
          <a:ln w="12700">
            <a:solidFill>
              <a:srgbClr val="e7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7"/>
          <p:cNvSpPr/>
          <p:nvPr/>
        </p:nvSpPr>
        <p:spPr>
          <a:xfrm>
            <a:off x="3611880" y="4727520"/>
            <a:ext cx="145800" cy="145800"/>
          </a:xfrm>
          <a:prstGeom prst="ellipse">
            <a:avLst/>
          </a:prstGeom>
          <a:solidFill>
            <a:srgbClr val="ff7c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8"/>
          <p:cNvSpPr/>
          <p:nvPr/>
        </p:nvSpPr>
        <p:spPr>
          <a:xfrm>
            <a:off x="3611880" y="4910400"/>
            <a:ext cx="2203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2433"/>
                </a:solidFill>
                <a:latin typeface="Arial"/>
                <a:ea typeface="Arial"/>
              </a:rPr>
              <a:t>Two portal services reached through one base URL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9"/>
          <p:cNvSpPr/>
          <p:nvPr/>
        </p:nvSpPr>
        <p:spPr>
          <a:xfrm>
            <a:off x="6181200" y="4526280"/>
            <a:ext cx="2605680" cy="1142640"/>
          </a:xfrm>
          <a:prstGeom prst="roundRect">
            <a:avLst>
              <a:gd name="adj" fmla="val 6400"/>
            </a:avLst>
          </a:prstGeom>
          <a:solidFill>
            <a:srgbClr val="f6f5f8"/>
          </a:solidFill>
          <a:ln w="12700">
            <a:solidFill>
              <a:srgbClr val="e7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0"/>
          <p:cNvSpPr/>
          <p:nvPr/>
        </p:nvSpPr>
        <p:spPr>
          <a:xfrm>
            <a:off x="6382440" y="4727520"/>
            <a:ext cx="145800" cy="145800"/>
          </a:xfrm>
          <a:prstGeom prst="ellipse">
            <a:avLst/>
          </a:prstGeom>
          <a:solidFill>
            <a:srgbClr val="ff7c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21"/>
          <p:cNvSpPr/>
          <p:nvPr/>
        </p:nvSpPr>
        <p:spPr>
          <a:xfrm>
            <a:off x="6382440" y="4910400"/>
            <a:ext cx="2203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2433"/>
                </a:solidFill>
                <a:latin typeface="Arial"/>
                <a:ea typeface="Arial"/>
              </a:rPr>
              <a:t>Block writes validated before they ever leave the server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2"/>
          <p:cNvSpPr/>
          <p:nvPr/>
        </p:nvSpPr>
        <p:spPr>
          <a:xfrm>
            <a:off x="8952120" y="4526280"/>
            <a:ext cx="2605680" cy="1142640"/>
          </a:xfrm>
          <a:prstGeom prst="roundRect">
            <a:avLst>
              <a:gd name="adj" fmla="val 6400"/>
            </a:avLst>
          </a:prstGeom>
          <a:solidFill>
            <a:srgbClr val="f6f5f8"/>
          </a:solidFill>
          <a:ln w="12700">
            <a:solidFill>
              <a:srgbClr val="e7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23"/>
          <p:cNvSpPr/>
          <p:nvPr/>
        </p:nvSpPr>
        <p:spPr>
          <a:xfrm>
            <a:off x="9153000" y="4727520"/>
            <a:ext cx="145800" cy="145800"/>
          </a:xfrm>
          <a:prstGeom prst="ellipse">
            <a:avLst/>
          </a:prstGeom>
          <a:solidFill>
            <a:srgbClr val="ff7c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24"/>
          <p:cNvSpPr/>
          <p:nvPr/>
        </p:nvSpPr>
        <p:spPr>
          <a:xfrm>
            <a:off x="9153000" y="4910400"/>
            <a:ext cx="2203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2433"/>
                </a:solidFill>
                <a:latin typeface="Arial"/>
                <a:ea typeface="Arial"/>
              </a:rPr>
              <a:t>Every content change committed to a Git repo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5"/>
          <p:cNvSpPr/>
          <p:nvPr/>
        </p:nvSpPr>
        <p:spPr>
          <a:xfrm>
            <a:off x="640080" y="6437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8392"/>
                </a:solidFill>
                <a:latin typeface="Arial"/>
                <a:ea typeface="Arial"/>
              </a:rPr>
              <a:t>Zuar Portal MCP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6"/>
          <p:cNvSpPr/>
          <p:nvPr/>
        </p:nvSpPr>
        <p:spPr>
          <a:xfrm>
            <a:off x="1133856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8392"/>
                </a:solidFill>
                <a:latin typeface="Arial"/>
                <a:ea typeface="Arial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640080" y="45720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ff7c2c"/>
                </a:solidFill>
                <a:latin typeface="Arial"/>
                <a:ea typeface="Arial"/>
              </a:rPr>
              <a:t>WHAT IT DOES TODAY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640080" y="76824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320"/>
                </a:solidFill>
                <a:latin typeface="Georgia"/>
                <a:ea typeface="Georgia"/>
              </a:rPr>
              <a:t>32 tools. Full-portal coverage.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640080" y="162756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8a8392"/>
                </a:solidFill>
                <a:latin typeface="Arial"/>
                <a:ea typeface="Arial"/>
              </a:rPr>
              <a:t>Everything below runs today, in production at v2.3.0 — nothing here is a prototype.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640080" y="2148840"/>
            <a:ext cx="5211720" cy="1782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3ec"/>
            </a:solidFill>
            <a:round/>
          </a:ln>
          <a:effectLst>
            <a:outerShdw algn="bl" blurRad="114480" dir="5400000" dist="38160" kx="0" ky="0" rotWithShape="0" sx="100000" sy="100000">
              <a:srgbClr val="1a132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932760" y="2459880"/>
            <a:ext cx="822600" cy="822600"/>
          </a:xfrm>
          <a:prstGeom prst="ellipse">
            <a:avLst/>
          </a:prstGeom>
          <a:solidFill>
            <a:srgbClr val="fa2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932760" y="245988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8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1965960" y="24962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1320"/>
                </a:solidFill>
                <a:latin typeface="Arial"/>
                <a:ea typeface="Arial"/>
              </a:rPr>
              <a:t>Author blocks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1965960" y="2935080"/>
            <a:ext cx="3657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c2433"/>
                </a:solidFill>
                <a:latin typeface="Arial"/>
                <a:ea typeface="Arial"/>
              </a:rPr>
              <a:t>Create, validate, bind to live data, and place on pages — typed, rule-checked tools.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6309360" y="2148840"/>
            <a:ext cx="5211720" cy="1782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3ec"/>
            </a:solidFill>
            <a:round/>
          </a:ln>
          <a:effectLst>
            <a:outerShdw algn="bl" blurRad="114480" dir="5400000" dist="38160" kx="0" ky="0" rotWithShape="0" sx="100000" sy="100000">
              <a:srgbClr val="1a132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9"/>
          <p:cNvSpPr/>
          <p:nvPr/>
        </p:nvSpPr>
        <p:spPr>
          <a:xfrm>
            <a:off x="6602040" y="2459880"/>
            <a:ext cx="822600" cy="822600"/>
          </a:xfrm>
          <a:prstGeom prst="ellipse">
            <a:avLst/>
          </a:prstGeom>
          <a:solidFill>
            <a:srgbClr val="ff7c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6602040" y="245988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7635240" y="24962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1320"/>
                </a:solidFill>
                <a:latin typeface="Arial"/>
                <a:ea typeface="Arial"/>
              </a:rPr>
              <a:t>Manage resources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7635240" y="2935080"/>
            <a:ext cx="3657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c2433"/>
                </a:solidFill>
                <a:latin typeface="Arial"/>
                <a:ea typeface="Arial"/>
              </a:rPr>
              <a:t>One tool set over 16 types: pages, datasources, queries, themes, users, groups, permissions…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3"/>
          <p:cNvSpPr/>
          <p:nvPr/>
        </p:nvSpPr>
        <p:spPr>
          <a:xfrm>
            <a:off x="640080" y="4069080"/>
            <a:ext cx="5211720" cy="1782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3ec"/>
            </a:solidFill>
            <a:round/>
          </a:ln>
          <a:effectLst>
            <a:outerShdw algn="bl" blurRad="114480" dir="5400000" dist="38160" kx="0" ky="0" rotWithShape="0" sx="100000" sy="100000">
              <a:srgbClr val="1a132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4"/>
          <p:cNvSpPr/>
          <p:nvPr/>
        </p:nvSpPr>
        <p:spPr>
          <a:xfrm>
            <a:off x="932760" y="4380120"/>
            <a:ext cx="822600" cy="822600"/>
          </a:xfrm>
          <a:prstGeom prst="ellipse">
            <a:avLst/>
          </a:prstGeom>
          <a:solidFill>
            <a:srgbClr val="fa2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5"/>
          <p:cNvSpPr/>
          <p:nvPr/>
        </p:nvSpPr>
        <p:spPr>
          <a:xfrm>
            <a:off x="932760" y="4380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14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6"/>
          <p:cNvSpPr/>
          <p:nvPr/>
        </p:nvSpPr>
        <p:spPr>
          <a:xfrm>
            <a:off x="1965960" y="441648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1320"/>
                </a:solidFill>
                <a:latin typeface="Arial"/>
                <a:ea typeface="Arial"/>
              </a:rPr>
              <a:t>Work with data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1965960" y="4855320"/>
            <a:ext cx="3657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c2433"/>
                </a:solidFill>
                <a:latin typeface="Arial"/>
                <a:ea typeface="Arial"/>
              </a:rPr>
              <a:t>Preview rows, run saved queries, and execute gated database writes.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8"/>
          <p:cNvSpPr/>
          <p:nvPr/>
        </p:nvSpPr>
        <p:spPr>
          <a:xfrm>
            <a:off x="6309360" y="4069080"/>
            <a:ext cx="5211720" cy="1782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3ec"/>
            </a:solidFill>
            <a:round/>
          </a:ln>
          <a:effectLst>
            <a:outerShdw algn="bl" blurRad="114480" dir="5400000" dist="38160" kx="0" ky="0" rotWithShape="0" sx="100000" sy="100000">
              <a:srgbClr val="1a132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9"/>
          <p:cNvSpPr/>
          <p:nvPr/>
        </p:nvSpPr>
        <p:spPr>
          <a:xfrm>
            <a:off x="6602040" y="4380120"/>
            <a:ext cx="822600" cy="822600"/>
          </a:xfrm>
          <a:prstGeom prst="ellipse">
            <a:avLst/>
          </a:prstGeom>
          <a:solidFill>
            <a:srgbClr val="ff7c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20"/>
          <p:cNvSpPr/>
          <p:nvPr/>
        </p:nvSpPr>
        <p:spPr>
          <a:xfrm>
            <a:off x="6602040" y="4380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1"/>
          <p:cNvSpPr/>
          <p:nvPr/>
        </p:nvSpPr>
        <p:spPr>
          <a:xfrm>
            <a:off x="7635240" y="441648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1320"/>
                </a:solidFill>
                <a:latin typeface="Arial"/>
                <a:ea typeface="Arial"/>
              </a:rPr>
              <a:t>Version control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2"/>
          <p:cNvSpPr/>
          <p:nvPr/>
        </p:nvSpPr>
        <p:spPr>
          <a:xfrm>
            <a:off x="7635240" y="4855320"/>
            <a:ext cx="3657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c2433"/>
                </a:solidFill>
                <a:latin typeface="Arial"/>
                <a:ea typeface="Arial"/>
              </a:rPr>
              <a:t>Snapshot the portal, browse history, and revert any change in one call.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3"/>
          <p:cNvSpPr/>
          <p:nvPr/>
        </p:nvSpPr>
        <p:spPr>
          <a:xfrm>
            <a:off x="640080" y="6437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8392"/>
                </a:solidFill>
                <a:latin typeface="Arial"/>
                <a:ea typeface="Arial"/>
              </a:rPr>
              <a:t>Zuar Portal MCP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4"/>
          <p:cNvSpPr/>
          <p:nvPr/>
        </p:nvSpPr>
        <p:spPr>
          <a:xfrm>
            <a:off x="1133856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8392"/>
                </a:solidFill>
                <a:latin typeface="Arial"/>
                <a:ea typeface="Arial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640080" y="45720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ff7c2c"/>
                </a:solidFill>
                <a:latin typeface="Arial"/>
                <a:ea typeface="Arial"/>
              </a:rPr>
              <a:t>WHY THE OUTPUT IS GOOD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640080" y="76824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320"/>
                </a:solidFill>
                <a:latin typeface="Georgia"/>
                <a:ea typeface="Georgia"/>
              </a:rPr>
              <a:t>Portal expertise is built in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640080" y="162756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c2433"/>
                </a:solidFill>
                <a:latin typeface="Arial"/>
                <a:ea typeface="Arial"/>
              </a:rPr>
              <a:t>Every block the AI writes is checked against authoring rules and guided by bundled zPortal conventions and a house design system — so any model produces correct, on-brand blocks, not generic HTML.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640080" y="2468880"/>
            <a:ext cx="3474360" cy="2697120"/>
          </a:xfrm>
          <a:prstGeom prst="roundRect">
            <a:avLst>
              <a:gd name="adj" fmla="val 3390"/>
            </a:avLst>
          </a:prstGeom>
          <a:solidFill>
            <a:srgbClr val="f6f5f8"/>
          </a:solidFill>
          <a:ln w="12700">
            <a:solidFill>
              <a:srgbClr val="e7e3ec"/>
            </a:solidFill>
            <a:round/>
          </a:ln>
          <a:effectLst>
            <a:outerShdw algn="bl" blurRad="114480" dir="5400000" dist="38160" kx="0" ky="0" rotWithShape="0" sx="100000" sy="100000">
              <a:srgbClr val="1a132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914400" y="272484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a225b"/>
                </a:solidFill>
                <a:latin typeface="Georgia"/>
                <a:ea typeface="Georgia"/>
              </a:rPr>
              <a:t>17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914400" y="352944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320"/>
                </a:solidFill>
                <a:latin typeface="Arial"/>
                <a:ea typeface="Arial"/>
              </a:rPr>
              <a:t>Authoring rules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914400" y="3931920"/>
            <a:ext cx="2925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c2433"/>
                </a:solidFill>
                <a:latin typeface="Arial"/>
                <a:ea typeface="Arial"/>
              </a:rPr>
              <a:t>Structure, safety, and hard-won footguns (like the literal-$ Angular trap) are enforced before a block is ever saved.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4343400" y="2468880"/>
            <a:ext cx="3474360" cy="2697120"/>
          </a:xfrm>
          <a:prstGeom prst="roundRect">
            <a:avLst>
              <a:gd name="adj" fmla="val 3390"/>
            </a:avLst>
          </a:prstGeom>
          <a:solidFill>
            <a:srgbClr val="f6f5f8"/>
          </a:solidFill>
          <a:ln w="12700">
            <a:solidFill>
              <a:srgbClr val="e7e3ec"/>
            </a:solidFill>
            <a:round/>
          </a:ln>
          <a:effectLst>
            <a:outerShdw algn="bl" blurRad="114480" dir="5400000" dist="38160" kx="0" ky="0" rotWithShape="0" sx="100000" sy="100000">
              <a:srgbClr val="1a132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4617720" y="272484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7c2c"/>
                </a:solidFill>
                <a:latin typeface="Georgia"/>
                <a:ea typeface="Georgia"/>
              </a:rPr>
              <a:t>6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4617720" y="352944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320"/>
                </a:solidFill>
                <a:latin typeface="Arial"/>
                <a:ea typeface="Arial"/>
              </a:rPr>
              <a:t>In-context guides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4617720" y="3931920"/>
            <a:ext cx="2925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c2433"/>
                </a:solidFill>
                <a:latin typeface="Arial"/>
                <a:ea typeface="Arial"/>
              </a:rPr>
              <a:t>Block structure, live data binding, the zPortal JS API, and the charting policy travel with the tool.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1"/>
          <p:cNvSpPr/>
          <p:nvPr/>
        </p:nvSpPr>
        <p:spPr>
          <a:xfrm>
            <a:off x="8046720" y="2468880"/>
            <a:ext cx="3474360" cy="2697120"/>
          </a:xfrm>
          <a:prstGeom prst="roundRect">
            <a:avLst>
              <a:gd name="adj" fmla="val 3390"/>
            </a:avLst>
          </a:prstGeom>
          <a:solidFill>
            <a:srgbClr val="f6f5f8"/>
          </a:solidFill>
          <a:ln w="12700">
            <a:solidFill>
              <a:srgbClr val="e7e3ec"/>
            </a:solidFill>
            <a:round/>
          </a:ln>
          <a:effectLst>
            <a:outerShdw algn="bl" blurRad="114480" dir="5400000" dist="38160" kx="0" ky="0" rotWithShape="0" sx="100000" sy="100000">
              <a:srgbClr val="1a132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8321040" y="272484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a225b"/>
                </a:solidFill>
                <a:latin typeface="Georgia"/>
                <a:ea typeface="Georgia"/>
              </a:rPr>
              <a:t>1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3"/>
          <p:cNvSpPr/>
          <p:nvPr/>
        </p:nvSpPr>
        <p:spPr>
          <a:xfrm>
            <a:off x="8321040" y="352944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320"/>
                </a:solidFill>
                <a:latin typeface="Arial"/>
                <a:ea typeface="Arial"/>
              </a:rPr>
              <a:t>House design system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4"/>
          <p:cNvSpPr/>
          <p:nvPr/>
        </p:nvSpPr>
        <p:spPr>
          <a:xfrm>
            <a:off x="8321040" y="3931920"/>
            <a:ext cx="2925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c2433"/>
                </a:solidFill>
                <a:latin typeface="Arial"/>
                <a:ea typeface="Arial"/>
              </a:rPr>
              <a:t>Palette, typography, spacing, and chart styling keep every surface consistent and executive-grade.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5"/>
          <p:cNvSpPr/>
          <p:nvPr/>
        </p:nvSpPr>
        <p:spPr>
          <a:xfrm>
            <a:off x="640080" y="5440680"/>
            <a:ext cx="10881000" cy="868320"/>
          </a:xfrm>
          <a:prstGeom prst="roundRect">
            <a:avLst>
              <a:gd name="adj" fmla="val 8421"/>
            </a:avLst>
          </a:prstGeom>
          <a:solidFill>
            <a:srgbClr val="fff0f4"/>
          </a:solidFill>
          <a:ln w="12700">
            <a:solidFill>
              <a:srgbClr val="f7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6"/>
          <p:cNvSpPr/>
          <p:nvPr/>
        </p:nvSpPr>
        <p:spPr>
          <a:xfrm>
            <a:off x="960120" y="5440680"/>
            <a:ext cx="10240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a225b"/>
                </a:solidFill>
                <a:latin typeface="Arial"/>
                <a:ea typeface="Arial"/>
              </a:rPr>
              <a:t>Comparable output to an in-portal assistant — </a:t>
            </a:r>
            <a:r>
              <a:rPr b="0" lang="en-US" sz="1500" spc="-1" strike="noStrike">
                <a:solidFill>
                  <a:srgbClr val="2c2433"/>
                </a:solidFill>
                <a:latin typeface="Arial"/>
                <a:ea typeface="Arial"/>
              </a:rPr>
              <a:t>delivered to whatever AI the customer already uses.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7"/>
          <p:cNvSpPr/>
          <p:nvPr/>
        </p:nvSpPr>
        <p:spPr>
          <a:xfrm>
            <a:off x="640080" y="6437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8392"/>
                </a:solidFill>
                <a:latin typeface="Arial"/>
                <a:ea typeface="Arial"/>
              </a:rPr>
              <a:t>Zuar Portal MCP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8"/>
          <p:cNvSpPr/>
          <p:nvPr/>
        </p:nvSpPr>
        <p:spPr>
          <a:xfrm>
            <a:off x="1133856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8392"/>
                </a:solidFill>
                <a:latin typeface="Arial"/>
                <a:ea typeface="Arial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640080" y="45720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ff7c2c"/>
                </a:solidFill>
                <a:latin typeface="Arial"/>
                <a:ea typeface="Arial"/>
              </a:rPr>
              <a:t>SAFETY &amp; GOVERNANCE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640080" y="76824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320"/>
                </a:solidFill>
                <a:latin typeface="Georgia"/>
                <a:ea typeface="Georgia"/>
              </a:rPr>
              <a:t>Safe by default, fully revertible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640080" y="16916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320"/>
                </a:solidFill>
                <a:latin typeface="Arial"/>
                <a:ea typeface="Arial"/>
              </a:rPr>
              <a:t>Layered write-safety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640080" y="2194560"/>
            <a:ext cx="5348880" cy="840960"/>
          </a:xfrm>
          <a:prstGeom prst="roundRect">
            <a:avLst>
              <a:gd name="adj" fmla="val 8696"/>
            </a:avLst>
          </a:prstGeom>
          <a:solidFill>
            <a:srgbClr val="f6f5f8"/>
          </a:solidFill>
          <a:ln w="12700">
            <a:solidFill>
              <a:srgbClr val="e7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"/>
          <p:cNvSpPr/>
          <p:nvPr/>
        </p:nvSpPr>
        <p:spPr>
          <a:xfrm>
            <a:off x="841320" y="2432160"/>
            <a:ext cx="1416960" cy="365400"/>
          </a:xfrm>
          <a:prstGeom prst="roundRect">
            <a:avLst>
              <a:gd name="adj" fmla="val 12500"/>
            </a:avLst>
          </a:prstGeom>
          <a:solidFill>
            <a:srgbClr val="1ea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841320" y="2432160"/>
            <a:ext cx="1416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CONTENT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2423160" y="2313360"/>
            <a:ext cx="27428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c2433"/>
                </a:solidFill>
                <a:latin typeface="Arial"/>
                <a:ea typeface="Arial"/>
              </a:rPr>
              <a:t>Blocks, pages, themes, queries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4572000" y="2313360"/>
            <a:ext cx="1325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eae6b"/>
                </a:solidFill>
                <a:latin typeface="Arial"/>
                <a:ea typeface="Arial"/>
              </a:rPr>
              <a:t>On by default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8"/>
          <p:cNvSpPr/>
          <p:nvPr/>
        </p:nvSpPr>
        <p:spPr>
          <a:xfrm>
            <a:off x="640080" y="3163680"/>
            <a:ext cx="5348880" cy="840960"/>
          </a:xfrm>
          <a:prstGeom prst="roundRect">
            <a:avLst>
              <a:gd name="adj" fmla="val 8696"/>
            </a:avLst>
          </a:prstGeom>
          <a:solidFill>
            <a:srgbClr val="f6f5f8"/>
          </a:solidFill>
          <a:ln w="12700">
            <a:solidFill>
              <a:srgbClr val="e7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9"/>
          <p:cNvSpPr/>
          <p:nvPr/>
        </p:nvSpPr>
        <p:spPr>
          <a:xfrm>
            <a:off x="841320" y="3401640"/>
            <a:ext cx="1416960" cy="365400"/>
          </a:xfrm>
          <a:prstGeom prst="roundRect">
            <a:avLst>
              <a:gd name="adj" fmla="val 12500"/>
            </a:avLst>
          </a:prstGeom>
          <a:solidFill>
            <a:srgbClr val="ff7c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841320" y="3401640"/>
            <a:ext cx="1416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DATA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2423160" y="3282840"/>
            <a:ext cx="27428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c2433"/>
                </a:solidFill>
                <a:latin typeface="Arial"/>
                <a:ea typeface="Arial"/>
              </a:rPr>
              <a:t>Datasources &amp; SQL writes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2"/>
          <p:cNvSpPr/>
          <p:nvPr/>
        </p:nvSpPr>
        <p:spPr>
          <a:xfrm>
            <a:off x="4572000" y="3282840"/>
            <a:ext cx="1325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7c2c"/>
                </a:solidFill>
                <a:latin typeface="Arial"/>
                <a:ea typeface="Arial"/>
              </a:rPr>
              <a:t>Opt-in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13"/>
          <p:cNvSpPr/>
          <p:nvPr/>
        </p:nvSpPr>
        <p:spPr>
          <a:xfrm>
            <a:off x="640080" y="4133160"/>
            <a:ext cx="5348880" cy="840960"/>
          </a:xfrm>
          <a:prstGeom prst="roundRect">
            <a:avLst>
              <a:gd name="adj" fmla="val 8696"/>
            </a:avLst>
          </a:prstGeom>
          <a:solidFill>
            <a:srgbClr val="f6f5f8"/>
          </a:solidFill>
          <a:ln w="12700">
            <a:solidFill>
              <a:srgbClr val="e7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4"/>
          <p:cNvSpPr/>
          <p:nvPr/>
        </p:nvSpPr>
        <p:spPr>
          <a:xfrm>
            <a:off x="841320" y="4370760"/>
            <a:ext cx="1416960" cy="365400"/>
          </a:xfrm>
          <a:prstGeom prst="roundRect">
            <a:avLst>
              <a:gd name="adj" fmla="val 12500"/>
            </a:avLst>
          </a:prstGeom>
          <a:solidFill>
            <a:srgbClr val="fa2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5"/>
          <p:cNvSpPr/>
          <p:nvPr/>
        </p:nvSpPr>
        <p:spPr>
          <a:xfrm>
            <a:off x="841320" y="4370760"/>
            <a:ext cx="1416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ADMIN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6"/>
          <p:cNvSpPr/>
          <p:nvPr/>
        </p:nvSpPr>
        <p:spPr>
          <a:xfrm>
            <a:off x="2423160" y="4251960"/>
            <a:ext cx="27428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c2433"/>
                </a:solidFill>
                <a:latin typeface="Arial"/>
                <a:ea typeface="Arial"/>
              </a:rPr>
              <a:t>Users, security, config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7"/>
          <p:cNvSpPr/>
          <p:nvPr/>
        </p:nvSpPr>
        <p:spPr>
          <a:xfrm>
            <a:off x="4572000" y="4251960"/>
            <a:ext cx="1325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a225b"/>
                </a:solidFill>
                <a:latin typeface="Arial"/>
                <a:ea typeface="Arial"/>
              </a:rPr>
              <a:t>Opt-in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640080" y="5212080"/>
            <a:ext cx="5348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a8392"/>
                </a:solidFill>
                <a:latin typeface="Arial"/>
                <a:ea typeface="Arial"/>
              </a:rPr>
              <a:t>Read-only mode disables all writes.   Database writes require explicit confirmation.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19"/>
          <p:cNvSpPr/>
          <p:nvPr/>
        </p:nvSpPr>
        <p:spPr>
          <a:xfrm>
            <a:off x="6263640" y="1783080"/>
            <a:ext cx="5257440" cy="4068720"/>
          </a:xfrm>
          <a:prstGeom prst="roundRect">
            <a:avLst>
              <a:gd name="adj" fmla="val 2247"/>
            </a:avLst>
          </a:prstGeom>
          <a:solidFill>
            <a:srgbClr val="fff0f4"/>
          </a:solidFill>
          <a:ln w="12700">
            <a:solidFill>
              <a:srgbClr val="e7e3ec"/>
            </a:solidFill>
            <a:round/>
          </a:ln>
          <a:effectLst>
            <a:outerShdw algn="bl" blurRad="114480" dir="5400000" dist="38160" kx="0" ky="0" rotWithShape="0" sx="100000" sy="100000">
              <a:srgbClr val="1a132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20"/>
          <p:cNvSpPr/>
          <p:nvPr/>
        </p:nvSpPr>
        <p:spPr>
          <a:xfrm>
            <a:off x="6583680" y="2103120"/>
            <a:ext cx="273960" cy="273960"/>
          </a:xfrm>
          <a:prstGeom prst="ellipse">
            <a:avLst/>
          </a:prstGeom>
          <a:solidFill>
            <a:srgbClr val="fa2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21"/>
          <p:cNvSpPr/>
          <p:nvPr/>
        </p:nvSpPr>
        <p:spPr>
          <a:xfrm>
            <a:off x="6995160" y="206640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a225b"/>
                </a:solidFill>
                <a:latin typeface="Arial"/>
                <a:ea typeface="Arial"/>
              </a:rPr>
              <a:t>Git version control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2"/>
          <p:cNvSpPr/>
          <p:nvPr/>
        </p:nvSpPr>
        <p:spPr>
          <a:xfrm>
            <a:off x="6629400" y="2697480"/>
            <a:ext cx="46630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2000"/>
              </a:lnSpc>
              <a:spcAft>
                <a:spcPts val="1199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c2433"/>
                </a:solidFill>
                <a:latin typeface="Arial"/>
                <a:ea typeface="Arial"/>
              </a:rPr>
              <a:t>Every content change is mirrored to a Git repo and committed automatically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2000"/>
              </a:lnSpc>
              <a:spcAft>
                <a:spcPts val="1199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c2433"/>
                </a:solidFill>
                <a:latin typeface="Arial"/>
                <a:ea typeface="Arial"/>
              </a:rPr>
              <a:t>Browse the full history of what the AI changed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2000"/>
              </a:lnSpc>
              <a:spcAft>
                <a:spcPts val="1199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c2433"/>
                </a:solidFill>
                <a:latin typeface="Arial"/>
                <a:ea typeface="Arial"/>
              </a:rPr>
              <a:t>Revert any change — or a whole snapshot — in one call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2000"/>
              </a:lnSpc>
              <a:spcAft>
                <a:spcPts val="1199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c2433"/>
                </a:solidFill>
                <a:latin typeface="Arial"/>
                <a:ea typeface="Arial"/>
              </a:rPr>
              <a:t>Optionally push to GitHub for an off-machine audit trail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23"/>
          <p:cNvSpPr/>
          <p:nvPr/>
        </p:nvSpPr>
        <p:spPr>
          <a:xfrm>
            <a:off x="640080" y="6437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8392"/>
                </a:solidFill>
                <a:latin typeface="Arial"/>
                <a:ea typeface="Arial"/>
              </a:rPr>
              <a:t>Zuar Portal MCP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4"/>
          <p:cNvSpPr/>
          <p:nvPr/>
        </p:nvSpPr>
        <p:spPr>
          <a:xfrm>
            <a:off x="1133856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8392"/>
                </a:solidFill>
                <a:latin typeface="Arial"/>
                <a:ea typeface="Arial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640080" y="45720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ff7c2c"/>
                </a:solidFill>
                <a:latin typeface="Arial"/>
                <a:ea typeface="Arial"/>
              </a:rPr>
              <a:t>PORTABLE — AND THE CEILING KEEPS RISING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640080" y="76824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320"/>
                </a:solidFill>
                <a:latin typeface="Georgia"/>
                <a:ea typeface="Georgia"/>
              </a:rPr>
              <a:t>Open standard. The customer's AI of choice.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640080" y="2011680"/>
            <a:ext cx="5348880" cy="37486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7e3ec"/>
            </a:solidFill>
            <a:round/>
          </a:ln>
          <a:effectLst>
            <a:outerShdw algn="bl" blurRad="114480" dir="5400000" dist="38160" kx="0" ky="0" rotWithShape="0" sx="100000" sy="100000">
              <a:srgbClr val="1a132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932760" y="2331720"/>
            <a:ext cx="273960" cy="273960"/>
          </a:xfrm>
          <a:prstGeom prst="ellipse">
            <a:avLst/>
          </a:prstGeom>
          <a:solidFill>
            <a:srgbClr val="ff7c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1334880" y="2295000"/>
            <a:ext cx="4388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7c2c"/>
                </a:solidFill>
                <a:latin typeface="Arial"/>
                <a:ea typeface="Arial"/>
              </a:rPr>
              <a:t>Portable by design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960120" y="2926080"/>
            <a:ext cx="475452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2000"/>
              </a:lnSpc>
              <a:spcAft>
                <a:spcPts val="1199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c2433"/>
                </a:solidFill>
                <a:latin typeface="Arial"/>
                <a:ea typeface="Arial"/>
              </a:rPr>
              <a:t>MCP is an open protocol, not a Zuar-only feature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2000"/>
              </a:lnSpc>
              <a:spcAft>
                <a:spcPts val="1199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c2433"/>
                </a:solidFill>
                <a:latin typeface="Arial"/>
                <a:ea typeface="Arial"/>
              </a:rPr>
              <a:t>Works with Claude Code, Claude Desktop, ChatGPT, and other MCP clients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2000"/>
              </a:lnSpc>
              <a:spcAft>
                <a:spcPts val="1199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c2433"/>
                </a:solidFill>
                <a:latin typeface="Arial"/>
                <a:ea typeface="Arial"/>
              </a:rPr>
              <a:t>Customers aren't locked to one vendor or one UI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2000"/>
              </a:lnSpc>
              <a:spcAft>
                <a:spcPts val="1199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c2433"/>
                </a:solidFill>
                <a:latin typeface="Arial"/>
                <a:ea typeface="Arial"/>
              </a:rPr>
              <a:t>The same tool serves them all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6263640" y="2011680"/>
            <a:ext cx="5257440" cy="3748680"/>
          </a:xfrm>
          <a:prstGeom prst="roundRect">
            <a:avLst>
              <a:gd name="adj" fmla="val 2439"/>
            </a:avLst>
          </a:prstGeom>
          <a:solidFill>
            <a:srgbClr val="fff0f4"/>
          </a:solidFill>
          <a:ln w="12700">
            <a:solidFill>
              <a:srgbClr val="e7e3ec"/>
            </a:solidFill>
            <a:round/>
          </a:ln>
          <a:effectLst>
            <a:outerShdw algn="bl" blurRad="114480" dir="5400000" dist="38160" kx="0" ky="0" rotWithShape="0" sx="100000" sy="100000">
              <a:srgbClr val="1a132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6556320" y="2331720"/>
            <a:ext cx="273960" cy="273960"/>
          </a:xfrm>
          <a:prstGeom prst="ellipse">
            <a:avLst/>
          </a:prstGeom>
          <a:solidFill>
            <a:srgbClr val="fa2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6958440" y="229500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a225b"/>
                </a:solidFill>
                <a:latin typeface="Arial"/>
                <a:ea typeface="Arial"/>
              </a:rPr>
              <a:t>Where it can go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6583680" y="2926080"/>
            <a:ext cx="466308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2000"/>
              </a:lnSpc>
              <a:spcAft>
                <a:spcPts val="1199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c2433"/>
                </a:solidFill>
                <a:latin typeface="Arial"/>
                <a:ea typeface="Arial"/>
              </a:rPr>
              <a:t>Living in the AI, it inherits every new agent capability automatically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2000"/>
              </a:lnSpc>
              <a:spcAft>
                <a:spcPts val="1199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c2433"/>
                </a:solidFill>
                <a:latin typeface="Arial"/>
                <a:ea typeface="Arial"/>
              </a:rPr>
              <a:t>Multi-agent teams that build different parts in parallel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2000"/>
              </a:lnSpc>
              <a:spcAft>
                <a:spcPts val="1199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c2433"/>
                </a:solidFill>
                <a:latin typeface="Arial"/>
                <a:ea typeface="Arial"/>
              </a:rPr>
              <a:t>Autonomous loops and scheduled jobs that build and maintain the portal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2000"/>
              </a:lnSpc>
              <a:spcAft>
                <a:spcPts val="1199"/>
              </a:spcAft>
              <a:buClr>
                <a:srgbClr val="2c243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c2433"/>
                </a:solidFill>
                <a:latin typeface="Arial"/>
                <a:ea typeface="Arial"/>
              </a:rPr>
              <a:t>We ride the AI roadmap instead of rebuilding it ourselves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640080" y="6437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8392"/>
                </a:solidFill>
                <a:latin typeface="Arial"/>
                <a:ea typeface="Arial"/>
              </a:rPr>
              <a:t>Zuar Portal MCP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1133856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8392"/>
                </a:solidFill>
                <a:latin typeface="Arial"/>
                <a:ea typeface="Arial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-1234440" y="6355080"/>
            <a:ext cx="2651400" cy="2651400"/>
          </a:xfrm>
          <a:prstGeom prst="ellipse">
            <a:avLst/>
          </a:prstGeom>
          <a:solidFill>
            <a:srgbClr val="fa2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1"/>
          <p:cNvSpPr/>
          <p:nvPr/>
        </p:nvSpPr>
        <p:spPr>
          <a:xfrm>
            <a:off x="411480" y="6766560"/>
            <a:ext cx="776880" cy="776880"/>
          </a:xfrm>
          <a:prstGeom prst="ellipse">
            <a:avLst/>
          </a:prstGeom>
          <a:solidFill>
            <a:srgbClr val="ff7c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777240" y="8686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299" strike="noStrike">
                <a:solidFill>
                  <a:srgbClr val="ff7c2c"/>
                </a:solidFill>
                <a:latin typeface="Arial"/>
                <a:ea typeface="Arial"/>
              </a:rPr>
              <a:t>THE TAKEAWAY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777240" y="132588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Georgia"/>
                <a:ea typeface="Georgia"/>
              </a:rPr>
              <a:t>Comparable results — built in 3 days.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777240" y="2880360"/>
            <a:ext cx="260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a225b"/>
                </a:solidFill>
                <a:latin typeface="Georgia"/>
                <a:ea typeface="Georgia"/>
              </a:rPr>
              <a:t>3 days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777240" y="3794760"/>
            <a:ext cx="2605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d9d2e0"/>
                </a:solidFill>
                <a:latin typeface="Arial"/>
                <a:ea typeface="Arial"/>
              </a:rPr>
              <a:t>Jun 24–26, 2026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3520440" y="2880360"/>
            <a:ext cx="260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7c2c"/>
                </a:solidFill>
                <a:latin typeface="Georgia"/>
                <a:ea typeface="Georgia"/>
              </a:rPr>
              <a:t>1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3520440" y="3794760"/>
            <a:ext cx="2605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d9d2e0"/>
                </a:solidFill>
                <a:latin typeface="Arial"/>
                <a:ea typeface="Arial"/>
              </a:rPr>
              <a:t>person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6263640" y="2880360"/>
            <a:ext cx="260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Georgia"/>
                <a:ea typeface="Georgia"/>
              </a:rPr>
              <a:t>32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6263640" y="3794760"/>
            <a:ext cx="2605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d9d2e0"/>
                </a:solidFill>
                <a:latin typeface="Arial"/>
                <a:ea typeface="Arial"/>
              </a:rPr>
              <a:t>tools, shipping today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0"/>
          <p:cNvSpPr/>
          <p:nvPr/>
        </p:nvSpPr>
        <p:spPr>
          <a:xfrm>
            <a:off x="9006840" y="2880360"/>
            <a:ext cx="260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a225b"/>
                </a:solidFill>
                <a:latin typeface="Georgia"/>
                <a:ea typeface="Georgia"/>
              </a:rPr>
              <a:t>~3,200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9006840" y="3794760"/>
            <a:ext cx="2605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d9d2e0"/>
                </a:solidFill>
                <a:latin typeface="Arial"/>
                <a:ea typeface="Arial"/>
              </a:rPr>
              <a:t>lines of code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2"/>
          <p:cNvSpPr/>
          <p:nvPr/>
        </p:nvSpPr>
        <p:spPr>
          <a:xfrm>
            <a:off x="822960" y="5074920"/>
            <a:ext cx="10515600" cy="360"/>
          </a:xfrm>
          <a:prstGeom prst="line">
            <a:avLst/>
          </a:prstGeom>
          <a:ln w="12700">
            <a:solidFill>
              <a:srgbClr val="3a31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3"/>
          <p:cNvSpPr/>
          <p:nvPr/>
        </p:nvSpPr>
        <p:spPr>
          <a:xfrm>
            <a:off x="777240" y="530352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i="1" lang="en-US" sz="1700" spc="-1" strike="noStrike">
                <a:solidFill>
                  <a:srgbClr val="ffffff"/>
                </a:solidFill>
                <a:latin typeface="Georgia"/>
                <a:ea typeface="Georgia"/>
              </a:rPr>
              <a:t>A small, portable tool already covers the full Portal — and grows with the AI ecosystem instead of chasing it.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2026-06-26T21:34:27Z</dcterms:created>
  <dc:creator>Patrick Fox</dc:creator>
  <dc:description/>
  <dc:language>en-US</dc:language>
  <cp:lastModifiedBy/>
  <dcterms:modified xsi:type="dcterms:W3CDTF">2026-06-26T17:39:37Z</dcterms:modified>
  <cp:revision>2</cp:revision>
  <dc:subject>PptxGenJS Presentation</dc:subject>
  <dc:title>Zuar Portal MCP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